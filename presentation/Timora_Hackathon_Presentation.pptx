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imora-one.vercel.app" TargetMode="Externa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imora-one.vercel.app" TargetMode="External"/><Relationship Id="rId3" Type="http://schemas.openxmlformats.org/officeDocument/2006/relationships/hyperlink" Target="https://github.com/nrrahulurs-cmyk/Timora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4572000" cy="3474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⚡ HACKATHON SHOWCASE  •  LIVE ON VERCEL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8521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Arial"/>
              </a:defRPr>
            </a:pPr>
            <a:r>
              <a:t>TIMORA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Arial"/>
              </a:defRPr>
            </a:pPr>
            <a:r>
              <a:t>The Autonomous Academic Operations System &amp; Timetable 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Transforming university scheduling chaos into conflict-free operational flow. Powered by real-time multi-constraint solving, clash cascade prediction, and Timo—an AI copilot grounded in actual institutional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51960"/>
            <a:ext cx="1645920" cy="320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B981"/>
                </a:solidFill>
                <a:latin typeface="Arial"/>
              </a:defRPr>
            </a:pPr>
            <a:r>
              <a:t>Zero-Conflict Guarantee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4251960"/>
            <a:ext cx="1645920" cy="320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A855F7"/>
                </a:solidFill>
                <a:latin typeface="Arial"/>
              </a:defRPr>
            </a:pPr>
            <a:r>
              <a:t>Grounded Timo 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251960"/>
            <a:ext cx="1645920" cy="320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8BDF8"/>
                </a:solidFill>
                <a:latin typeface="Arial"/>
              </a:defRPr>
            </a:pPr>
            <a:r>
              <a:t>95% Faster Allocation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5120640" cy="1234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84632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🌐 LIVE EVALUATION ENVIRONMENT</a:t>
            </a:r>
          </a:p>
          <a:p>
            <a:r>
              <a:rPr sz="1200" b="1">
                <a:solidFill>
                  <a:srgbClr val="FFFFFF"/>
                </a:solidFill>
                <a:latin typeface="Arial"/>
                <a:hlinkClick r:id="rId2"/>
              </a:rPr>
              <a:t>URL: https://timora-one.vercel.app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Includes 1-Click Persona Sign-In for Coordinators, Faculty &amp; Students.</a:t>
            </a:r>
          </a:p>
        </p:txBody>
      </p:sp>
      <p:pic>
        <p:nvPicPr>
          <p:cNvPr id="12" name="Picture 11" descr="mockup_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212080" cy="31089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0" y="4526280"/>
            <a:ext cx="521208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617720"/>
            <a:ext cx="4846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Arial"/>
              </a:defRPr>
            </a:pPr>
            <a:r>
              <a:t>ENGINEERED WITH MODERN ROBUST STACK:</a:t>
            </a:r>
          </a:p>
          <a:p>
            <a:pPr>
              <a:defRPr sz="950">
                <a:solidFill>
                  <a:srgbClr val="F1F5F9"/>
                </a:solidFill>
                <a:latin typeface="Arial"/>
              </a:defRPr>
            </a:pPr>
            <a:r>
              <a:t>• Next.js 16 (App Router) + React 19 + TypeScript + Tailwind CSS 4</a:t>
            </a:r>
            <a:br/>
            <a:r>
              <a:t>• Google Gemini 2.5 Flash + OpenRouter Cognitive Brain</a:t>
            </a:r>
            <a:br/>
            <a:r>
              <a:t>• Supabase PostgreSQL (RLS) + In-Memory Evaluation Store</a:t>
            </a:r>
            <a:br/>
            <a:r>
              <a:t>• 100% Passing Test Suite (Playwright E2E + Vitest)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TIMORA  •  Autonomous Academic Operations System  •  timora-one.vercel.app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01 / 06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4572000" cy="32918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sz="950" b="1">
                <a:solidFill>
                  <a:srgbClr val="F43F5E"/>
                </a:solidFill>
                <a:latin typeface="Arial"/>
              </a:defRPr>
            </a:pPr>
            <a:r>
              <a:t>🚨 THE CRISIS  •  HIGHER EDUCATION SCHEDULING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Universities Spend 400+ Hours Every Semester Fighting Spreadsheets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Higher education operations still rely on fragile, disconnected grids that fracture the moment reality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337560" cy="3840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194560"/>
            <a:ext cx="1645920" cy="3840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43F5E"/>
                </a:solidFill>
                <a:latin typeface="Arial"/>
              </a:defRPr>
            </a:pPr>
            <a:r>
              <a:t>400+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Cascading Conflict Ripple</a:t>
            </a:r>
          </a:p>
          <a:p>
            <a:pPr>
              <a:defRPr sz="1100" b="1">
                <a:solidFill>
                  <a:srgbClr val="F43F5E"/>
                </a:solidFill>
                <a:latin typeface="Arial"/>
              </a:defRPr>
            </a:pPr>
            <a:r>
              <a:t>A Single Teacher Absence Breaks 5+ Classes</a:t>
            </a:r>
          </a:p>
          <a:p>
            <a:br/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Academic schedules are deeply interconnected graphs. When one professor takes emergency leave, moving their lecture triggers a cascade of room double-bookings, laboratory conflicts, and student cohort overlaps across 4 other courses.</a:t>
            </a:r>
            <a:br/>
            <a:br/>
            <a:r>
              <a:t>Coordinators spend days manually tracing dependencies across dozens of siloed Excel sheets.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965960"/>
            <a:ext cx="3337560" cy="3840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45152" y="2194560"/>
            <a:ext cx="1645920" cy="3840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0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697480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Institutional Amnesia</a:t>
            </a:r>
          </a:p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Zero Central History &amp; Vanishing Approvals</a:t>
            </a:r>
          </a:p>
          <a:p>
            <a:br/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University coordination knowledge lives trapped in personal inboxes and scattered spreadsheets. Special room requirements, teacher availability preferences, and prior swap approvals disappear when staff turns over.</a:t>
            </a:r>
            <a:br/>
            <a:br/>
            <a:r>
              <a:t>Without an immutable audit ledger, universities face zero institutional memory and endless disputes.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1965960"/>
            <a:ext cx="3337560" cy="3840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30184" y="2194560"/>
            <a:ext cx="1645920" cy="3840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43F5E"/>
                </a:solidFill>
                <a:latin typeface="Arial"/>
              </a:defRPr>
            </a:pPr>
            <a:r>
              <a:t>120 Stranded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4" y="2697480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Late-Stage Catastrophes</a:t>
            </a:r>
          </a:p>
          <a:p>
            <a:pPr>
              <a:defRPr sz="1100" b="1">
                <a:solidFill>
                  <a:srgbClr val="F43F5E"/>
                </a:solidFill>
                <a:latin typeface="Arial"/>
              </a:defRPr>
            </a:pPr>
            <a:r>
              <a:t>Clashes Discovered Only on Lecture Day</a:t>
            </a:r>
          </a:p>
          <a:p>
            <a:br/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Spreadsheets possess zero constraint intelligence. Overlaps and room capacity overflows remain completely invisible until 120 students arrive at an occupied lecture hall on Monday morning.</a:t>
            </a:r>
            <a:br/>
            <a:br/>
            <a:r>
              <a:t>Emergency room scrambles damage student satisfaction, faculty morale, and institutional prestige.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943600"/>
            <a:ext cx="10698480" cy="384048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THE ROOT CAUSE: Spreadsheets are static rectangular grids. Academic operations are complex, living, multi-constraint constraint graphs.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TIMORA  •  Autonomous Academic Operations System  •  timora-one.vercel.app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02 / 06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4572000" cy="32918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sz="950" b="1">
                <a:solidFill>
                  <a:srgbClr val="6366F1"/>
                </a:solidFill>
                <a:latin typeface="Arial"/>
              </a:defRPr>
            </a:pPr>
            <a:r>
              <a:t>🖥️ PRODUCT SHOWCASE 1  •  LIVE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Live Operations Command &amp; Visual Timetable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From high-level institutional triage to minute-by-minute calendar management in under 3 clicks.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4023360" cy="1188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75688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Arial"/>
              </a:defRPr>
            </a:pPr>
            <a:r>
              <a:t>Live KPI Operations Row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Instant visibility into scheduled sessions (15), active detected conflicts (5), room capacity utilisation (11 venues), and pending extra-class requests.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39"/>
            <a:ext cx="4023360" cy="1188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01568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Requires Attention Panel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Algorithmic triage surfaces unassigned faculty slots, room overflows, and teacher exchange approvals directly on the coordinator's morning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4023360" cy="1188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727448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Interactive Timetable Studio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Interactive 5-day visual matrix mapping course codes, faculty assignments, student sections, and room allocations with instant visual validation.</a:t>
            </a:r>
          </a:p>
        </p:txBody>
      </p:sp>
      <p:pic>
        <p:nvPicPr>
          <p:cNvPr id="12" name="Picture 11" descr="mockup_time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65960"/>
            <a:ext cx="6492240" cy="3840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644652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TIMORA  •  Autonomous Academic Operations System  •  timora-one.vercel.app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03 / 06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4572000" cy="32918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sz="950" b="1">
                <a:solidFill>
                  <a:srgbClr val="F43F5E"/>
                </a:solidFill>
                <a:latin typeface="Arial"/>
              </a:defRPr>
            </a:pPr>
            <a:r>
              <a:t>⚡ STANDOUT CAPABILITY  •  MULTI-CONSTRAINT 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Automated Conflict Resolution &amp; Ripple Suggestions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Deterministic clash detection across rooms, faculty commitments, and room capacity limits.</a:t>
            </a:r>
          </a:p>
        </p:txBody>
      </p:sp>
      <p:pic>
        <p:nvPicPr>
          <p:cNvPr id="6" name="Picture 5" descr="mockup_confli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6492240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06640" y="1965960"/>
            <a:ext cx="4023360" cy="1188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075688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Arial"/>
              </a:defRPr>
            </a:pPr>
            <a:r>
              <a:t>Categorized Conflict Severity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Clashes are classified into Critical (direct room double-booking, professor dual-assignment) and Warning (capacity tight, non-optimal lab equipment).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291839"/>
            <a:ext cx="4023360" cy="1188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3401568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Ripple Alternative Suggestions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Rather than just pointing out clashes, Timora's constraint engine automatically suggests alternative slots and rooms guaranteed to have 0 downstream conflicts.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4617720"/>
            <a:ext cx="4023360" cy="1188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4727448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Schema-Aware Bulk Import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Coordinators can upload university CSV or XLSX timetables. Timora performs fuzzy schema matching, staged preview, and dry-run conflict checks before writing to database.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TIMORA  •  Autonomous Academic Operations System  •  timora-one.vercel.app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04 / 06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4572000" cy="32918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 lIns="109728" rIns="109728"/>
          <a:lstStyle/>
          <a:p>
            <a:pPr algn="ctr">
              <a:defRPr sz="950" b="1">
                <a:solidFill>
                  <a:srgbClr val="A855F7"/>
                </a:solidFill>
                <a:latin typeface="Arial"/>
              </a:defRPr>
            </a:pPr>
            <a:r>
              <a:t>🧠 AI INNOVATION &amp; TECH STACK  •  ZERO HALLUCINATIONS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Timo: Grounded Academic Brain &amp; Enterprise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Arial"/>
              </a:defRPr>
            </a:pPr>
            <a:r>
              <a:t>Direct database tool execution with cryptographic action previews and 100% test verification.</a:t>
            </a:r>
          </a:p>
        </p:txBody>
      </p:sp>
      <p:pic>
        <p:nvPicPr>
          <p:cNvPr id="6" name="Picture 5" descr="mockup_ti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548640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394960"/>
            <a:ext cx="5486400" cy="868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44068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Arial"/>
              </a:defRPr>
            </a:pPr>
            <a:r>
              <a:t>🧪 RIGOROUS AUTOMATED VERIFICATION (100% PASSING):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Playwright E2E journey tests + Vitest unit test suite verify scheduling, Copilot tool calls, and XLSX bulk import across all 6 core institutional roles.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965960"/>
            <a:ext cx="4937760" cy="1325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075688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Arial"/>
              </a:defRPr>
            </a:pPr>
            <a:r>
              <a:t>Bounded Database Tool Execution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Timo executes real function tools directly against the SchedulingRepository. When asked 'Find sessions for CS-401', it reads live database records and returns exact deep-linked session cards—never hallucinated.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429000"/>
            <a:ext cx="4937760" cy="1325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538728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Signed HMAC Action Tokens (Human Gate)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To prevent autonomous corruption, any AI schedule modification (rescheduling, extra classes) generates an HMAC-signed preview token requiring explicit coordinator click confirmation.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892040"/>
            <a:ext cx="4937760" cy="1325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5001768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Arial"/>
              </a:defRPr>
            </a:pPr>
            <a:r>
              <a:t>Dual-Brain Architecture &amp; Tech Stack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Next.js 16 (App Router), React 19, Tailwind CSS 4, Supabase PostgreSQL (RLS), and Dual-Brain AI (Google Gemini 2.5 Flash + OpenRouter Cognitive Brain with local fallback).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TIMORA  •  Autonomous Academic Operations System  •  timora-one.vercel.app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05 / 06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4572000" cy="329184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Arial"/>
              </a:defRPr>
            </a:pPr>
            <a:r>
              <a:t>🎯 PROVEN ROI &amp; LIVE DEMO READY  •  TEST IT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Experience Timora Live Right 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95%</a:t>
            </a:r>
          </a:p>
          <a:p>
            <a:pPr>
              <a:defRPr sz="1050" b="1">
                <a:solidFill>
                  <a:srgbClr val="FFFFFF"/>
                </a:solidFill>
                <a:latin typeface="Arial"/>
              </a:defRPr>
            </a:pPr>
            <a:r>
              <a:t>Time Savings</a:t>
            </a:r>
          </a:p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Weeks of manual meetings reduced to 15 minutes of guided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536192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Arial"/>
              </a:defRPr>
            </a:pPr>
            <a:r>
              <a:t>0</a:t>
            </a:r>
          </a:p>
          <a:p>
            <a:pPr>
              <a:defRPr sz="1050" b="1">
                <a:solidFill>
                  <a:srgbClr val="FFFFFF"/>
                </a:solidFill>
                <a:latin typeface="Arial"/>
              </a:defRPr>
            </a:pPr>
            <a:r>
              <a:t>Day-One Clashes</a:t>
            </a:r>
          </a:p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Zero double-booked classrooms or faculty duty overlaps at publish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36192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6366F1"/>
                </a:solidFill>
                <a:latin typeface="Arial"/>
              </a:defRPr>
            </a:pPr>
            <a:r>
              <a:t>100%</a:t>
            </a:r>
          </a:p>
          <a:p>
            <a:pPr>
              <a:defRPr sz="1050" b="1">
                <a:solidFill>
                  <a:srgbClr val="FFFFFF"/>
                </a:solidFill>
                <a:latin typeface="Arial"/>
              </a:defRPr>
            </a:pPr>
            <a:r>
              <a:t>Audit History</a:t>
            </a:r>
          </a:p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Complete immutable record of all schedule edits, approvals, and swaps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6888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536192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Arial"/>
              </a:defRPr>
            </a:pPr>
            <a:r>
              <a:t>&lt;20ms</a:t>
            </a:r>
          </a:p>
          <a:p>
            <a:pPr>
              <a:defRPr sz="1050" b="1">
                <a:solidFill>
                  <a:srgbClr val="FFFFFF"/>
                </a:solidFill>
                <a:latin typeface="Arial"/>
              </a:defRPr>
            </a:pPr>
            <a:r>
              <a:t>CAS Solver Speed</a:t>
            </a:r>
          </a:p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Sub-20 millisecond constraint check per slot across 400+ calendar cells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5212080" cy="26517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INSTANT EVALUATION ACCESS</a:t>
            </a:r>
          </a:p>
          <a:p>
            <a:r>
              <a:t>🌐 Live URL: </a:t>
            </a:r>
            <a:r>
              <a:rPr sz="1200" b="1">
                <a:solidFill>
                  <a:srgbClr val="FFFFFF"/>
                </a:solidFill>
                <a:latin typeface="Arial"/>
                <a:hlinkClick r:id="rId2"/>
              </a:rPr>
              <a:t>https://timora-one.vercel.app</a:t>
            </a:r>
          </a:p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🔑 1-Click Instant Persona Sign-In:</a:t>
            </a:r>
          </a:p>
          <a:p>
            <a:pPr>
              <a:defRPr sz="900">
                <a:solidFill>
                  <a:srgbClr val="F1F5F9"/>
                </a:solidFill>
                <a:latin typeface="Arial"/>
              </a:defRPr>
            </a:pPr>
            <a:r>
              <a:t>• Coordinator: coordinator@timora.edu  (Full studio &amp; publish rights)</a:t>
            </a:r>
            <a:br/>
            <a:r>
              <a:t>• Faculty: faculty@timora.edu  (Availability &amp; leave request)</a:t>
            </a:r>
            <a:br/>
            <a:r>
              <a:t>• Student: student@timora.edu  (Personalized timetable &amp; venue view)</a:t>
            </a:r>
            <a:br/>
            <a:br/>
            <a:r>
              <a:t>📂 Open Source Repository:</a:t>
            </a:r>
          </a:p>
          <a:p>
            <a:r>
              <a:rPr sz="950" b="1">
                <a:solidFill>
                  <a:srgbClr val="38BDF8"/>
                </a:solidFill>
                <a:latin typeface="Arial"/>
                <a:hlinkClick r:id="rId3"/>
              </a:rPr>
              <a:t>https://github.com/nrrahulurs-cmyk/Timora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880360"/>
            <a:ext cx="5212080" cy="26517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97180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WHY TIMORA WINS THIS HACKATHON</a:t>
            </a:r>
          </a:p>
          <a:p>
            <a:pPr>
              <a:defRPr sz="850">
                <a:solidFill>
                  <a:srgbClr val="F1F5F9"/>
                </a:solidFill>
                <a:latin typeface="Arial"/>
              </a:defRPr>
            </a:pPr>
            <a:r>
              <a:t>• Real Working System: Fully functional full-stack app with Next.js 16 and Supabase.</a:t>
            </a:r>
          </a:p>
          <a:p>
            <a:pPr>
              <a:defRPr sz="850">
                <a:solidFill>
                  <a:srgbClr val="F1F5F9"/>
                </a:solidFill>
                <a:latin typeface="Arial"/>
              </a:defRPr>
            </a:pPr>
            <a:r>
              <a:t>• Zero-Hallucination AI: Timo executes bounded tools on the real database with cryptographic action tokens.</a:t>
            </a:r>
          </a:p>
          <a:p>
            <a:pPr>
              <a:defRPr sz="850">
                <a:solidFill>
                  <a:srgbClr val="F1F5F9"/>
                </a:solidFill>
                <a:latin typeface="Arial"/>
              </a:defRPr>
            </a:pPr>
            <a:r>
              <a:t>• Sub-20ms CAS Solver: Real-time algorithmic solver enforcing room capacity, faculty schedules, and equipment.</a:t>
            </a:r>
          </a:p>
          <a:p>
            <a:pPr>
              <a:defRPr sz="850">
                <a:solidFill>
                  <a:srgbClr val="F1F5F9"/>
                </a:solidFill>
                <a:latin typeface="Arial"/>
              </a:defRPr>
            </a:pPr>
            <a:r>
              <a:t>• Solves a Universal $3.8B Pain: Saves 400+ hours per department across 25,000+ universities worldwide.</a:t>
            </a:r>
          </a:p>
          <a:p>
            <a:pPr>
              <a:defRPr sz="850">
                <a:solidFill>
                  <a:srgbClr val="F1F5F9"/>
                </a:solidFill>
                <a:latin typeface="Arial"/>
              </a:defRPr>
            </a:pPr>
            <a:r>
              <a:t>• Enterprise Quality Bar: 100% passing Playwright E2E and Vitest unit test coverage.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69280"/>
            <a:ext cx="10698480" cy="64008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7150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Arial"/>
              </a:defRPr>
            </a:pPr>
            <a:r>
              <a:t>“ The right people. The right place. The right time. ”</a:t>
            </a:r>
          </a:p>
          <a:p>
            <a:pPr algn="ctr">
              <a:defRPr sz="1050">
                <a:solidFill>
                  <a:srgbClr val="F1F5F9"/>
                </a:solidFill>
                <a:latin typeface="Arial"/>
              </a:defRPr>
            </a:pPr>
            <a:r>
              <a:t>Thank you! Open for Questions &amp; Live Interactive Demonstration.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TIMORA  •  Autonomous Academic Operations System  •  timora-one.vercel.app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06 / 06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