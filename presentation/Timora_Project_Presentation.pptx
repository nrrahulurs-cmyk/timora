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solidFill>
              <a:srgbClr val="FBF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400" y="317500"/>
            <a:ext cx="279400" cy="279400"/>
          </a:xfrm>
          <a:prstGeom prst="roundRect">
            <a:avLst/>
          </a:prstGeom>
          <a:solidFill>
            <a:srgbClr val="B7442D"/>
          </a:solidFill>
          <a:ln>
            <a:solidFill>
              <a:srgbClr val="B74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4800"/>
            <a:ext cx="1270000" cy="31750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1400" b="1">
                <a:solidFill>
                  <a:srgbClr val="202722"/>
                </a:solidFill>
                <a:latin typeface="Arial"/>
              </a:defRPr>
            </a:pPr>
            <a:r>
              <a:t>timora.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0" y="330200"/>
            <a:ext cx="2133600" cy="317500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850" b="1">
                <a:solidFill>
                  <a:srgbClr val="61706A"/>
                </a:solidFill>
                <a:latin typeface="Arial"/>
              </a:defRPr>
            </a:pPr>
            <a:r>
              <a:t>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812800"/>
            <a:ext cx="6350000" cy="25400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1000" b="1">
                <a:solidFill>
                  <a:srgbClr val="B7442D"/>
                </a:solidFill>
                <a:latin typeface="Arial"/>
              </a:defRPr>
            </a:pPr>
            <a:r>
              <a:t>01  THE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1041400"/>
            <a:ext cx="8890000" cy="53340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2800" b="1">
                <a:solidFill>
                  <a:srgbClr val="202722"/>
                </a:solidFill>
                <a:latin typeface="Arial"/>
              </a:defRPr>
            </a:pPr>
            <a:r>
              <a:t>A clearer academic 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574800"/>
            <a:ext cx="9525000" cy="30480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1200">
                <a:solidFill>
                  <a:srgbClr val="61706A"/>
                </a:solidFill>
                <a:latin typeface="Arial"/>
              </a:defRPr>
            </a:pPr>
            <a:r>
              <a:t>One workspace for the people, places, and decisions behind a timetable.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3400" y="2171700"/>
            <a:ext cx="1682750" cy="279400"/>
          </a:xfrm>
          <a:prstGeom prst="roundRect">
            <a:avLst/>
          </a:prstGeom>
          <a:solidFill>
            <a:srgbClr val="DCECE0"/>
          </a:solidFill>
          <a:ln>
            <a:solidFill>
              <a:srgbClr val="DCE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>
              <a:defRPr sz="850" b="1">
                <a:solidFill>
                  <a:srgbClr val="17241F"/>
                </a:solidFill>
                <a:latin typeface="Arial"/>
              </a:defRPr>
            </a:pPr>
            <a:r>
              <a:t>ACADEMIC OPERATIONS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2590800"/>
            <a:ext cx="4826000" cy="8255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2200" b="1">
                <a:solidFill>
                  <a:srgbClr val="202722"/>
                </a:solidFill>
                <a:latin typeface="Arial"/>
              </a:defRPr>
            </a:pPr>
            <a:r>
              <a:t>Every timetable change has a</a:t>
            </a:r>
            <a:br/>
            <a:r>
              <a:t>ripple effect.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4165600"/>
            <a:ext cx="4953000" cy="10160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350">
                <a:solidFill>
                  <a:srgbClr val="61706A"/>
                </a:solidFill>
                <a:latin typeface="Arial"/>
              </a:defRPr>
            </a:pPr>
            <a:r>
              <a:t>Timora connects scheduling, resource allocation, and</a:t>
            </a:r>
            <a:br/>
            <a:r>
              <a:t>conflict review so teams can make changes with</a:t>
            </a:r>
            <a:br/>
            <a:r>
              <a:t>context and confidence.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5765800"/>
            <a:ext cx="3175000" cy="2540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00" b="1">
                <a:solidFill>
                  <a:srgbClr val="B7442D"/>
                </a:solidFill>
                <a:latin typeface="Arial"/>
              </a:defRPr>
            </a:pPr>
            <a:r>
              <a:t>REAL PRODUCT SCREEN  /  LOCAL BUILD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9500" y="2349500"/>
            <a:ext cx="5524500" cy="3517900"/>
          </a:xfrm>
          <a:prstGeom prst="rect">
            <a:avLst/>
          </a:prstGeom>
          <a:solidFill>
            <a:srgbClr val="E7EAE7"/>
          </a:solidFill>
          <a:ln>
            <a:solidFill>
              <a:srgbClr val="E7E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age_1_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286000"/>
            <a:ext cx="5524500" cy="35179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096000" y="2286000"/>
            <a:ext cx="5524500" cy="3517900"/>
          </a:xfrm>
          <a:prstGeom prst="rect">
            <a:avLst/>
          </a:prstGeom>
          <a:noFill/>
          <a:ln w="12700">
            <a:solidFill>
              <a:srgbClr val="DD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3400" y="6413500"/>
            <a:ext cx="11125200" cy="12700"/>
          </a:xfrm>
          <a:prstGeom prst="rect">
            <a:avLst/>
          </a:prstGeom>
          <a:solidFill>
            <a:srgbClr val="DDE4DC"/>
          </a:solidFill>
          <a:ln>
            <a:solidFill>
              <a:srgbClr val="DD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3400" y="6502400"/>
            <a:ext cx="3810000" cy="25400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800" b="1">
                <a:solidFill>
                  <a:srgbClr val="61706A"/>
                </a:solidFill>
                <a:latin typeface="Arial"/>
              </a:defRPr>
            </a:pPr>
            <a:r>
              <a:t>TIMORA  /  LOCAL EVALUATION BUILD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95000" y="6502400"/>
            <a:ext cx="863600" cy="254000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800" b="1">
                <a:solidFill>
                  <a:srgbClr val="61706A"/>
                </a:solidFill>
                <a:latin typeface="Arial"/>
              </a:defRPr>
            </a:pPr>
            <a:r>
              <a:t>01 / 06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solidFill>
              <a:srgbClr val="FBF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400" y="317500"/>
            <a:ext cx="279400" cy="279400"/>
          </a:xfrm>
          <a:prstGeom prst="roundRect">
            <a:avLst/>
          </a:prstGeom>
          <a:solidFill>
            <a:srgbClr val="B7442D"/>
          </a:solidFill>
          <a:ln>
            <a:solidFill>
              <a:srgbClr val="B74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4800"/>
            <a:ext cx="1270000" cy="31750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1400" b="1">
                <a:solidFill>
                  <a:srgbClr val="202722"/>
                </a:solidFill>
                <a:latin typeface="Arial"/>
              </a:defRPr>
            </a:pPr>
            <a:r>
              <a:t>timora.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0" y="330200"/>
            <a:ext cx="2133600" cy="317500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850" b="1">
                <a:solidFill>
                  <a:srgbClr val="61706A"/>
                </a:solidFill>
                <a:latin typeface="Arial"/>
              </a:defRPr>
            </a:pPr>
            <a:r>
              <a:t>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812800"/>
            <a:ext cx="6350000" cy="25400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1000" b="1">
                <a:solidFill>
                  <a:srgbClr val="B7442D"/>
                </a:solidFill>
                <a:latin typeface="Arial"/>
              </a:defRPr>
            </a:pPr>
            <a:r>
              <a:t>02  PRODUCT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1041400"/>
            <a:ext cx="8890000" cy="53340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2800" b="1">
                <a:solidFill>
                  <a:srgbClr val="202722"/>
                </a:solidFill>
                <a:latin typeface="Arial"/>
              </a:defRPr>
            </a:pPr>
            <a:r>
              <a:t>The week, in one 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574800"/>
            <a:ext cx="9525000" cy="30480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1200">
                <a:solidFill>
                  <a:srgbClr val="61706A"/>
                </a:solidFill>
                <a:latin typeface="Arial"/>
              </a:defRPr>
            </a:pPr>
            <a:r>
              <a:t>Operational signals and the workflows behind them share the same scheduling records.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6900" y="2044700"/>
            <a:ext cx="7937500" cy="3848099"/>
          </a:xfrm>
          <a:prstGeom prst="rect">
            <a:avLst/>
          </a:prstGeom>
          <a:solidFill>
            <a:srgbClr val="E7EAE7"/>
          </a:solidFill>
          <a:ln>
            <a:solidFill>
              <a:srgbClr val="E7E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age_2_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981199"/>
            <a:ext cx="7937500" cy="3848099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33400" y="1981199"/>
            <a:ext cx="7937500" cy="3848099"/>
          </a:xfrm>
          <a:prstGeom prst="rect">
            <a:avLst/>
          </a:prstGeom>
          <a:noFill/>
          <a:ln w="12700">
            <a:solidFill>
              <a:srgbClr val="DD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788400" y="2133600"/>
            <a:ext cx="2870200" cy="952500"/>
          </a:xfrm>
          <a:prstGeom prst="roundRect">
            <a:avLst/>
          </a:prstGeom>
          <a:solidFill>
            <a:srgbClr val="F1F4EF"/>
          </a:solidFill>
          <a:ln>
            <a:solidFill>
              <a:srgbClr val="F1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6200" y="2286000"/>
            <a:ext cx="2590800" cy="6985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200" b="1">
                <a:solidFill>
                  <a:srgbClr val="202722"/>
                </a:solidFill>
                <a:latin typeface="Arial"/>
              </a:defRPr>
            </a:pPr>
            <a:r>
              <a:t>See the state</a:t>
            </a:r>
          </a:p>
          <a:p>
            <a:pPr>
              <a:defRPr sz="1000">
                <a:solidFill>
                  <a:srgbClr val="61706A"/>
                </a:solidFill>
                <a:latin typeface="Arial"/>
              </a:defRPr>
            </a:pPr>
            <a:r>
              <a:t>Sessions, conflicts, rooms, approvals, and</a:t>
            </a:r>
            <a:br/>
            <a:r>
              <a:t>utilisation together.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88400" y="3352800"/>
            <a:ext cx="2870200" cy="952500"/>
          </a:xfrm>
          <a:prstGeom prst="roundRect">
            <a:avLst/>
          </a:prstGeom>
          <a:solidFill>
            <a:srgbClr val="F1F4EF"/>
          </a:solidFill>
          <a:ln>
            <a:solidFill>
              <a:srgbClr val="F1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6200" y="3505200"/>
            <a:ext cx="2590800" cy="6985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200" b="1">
                <a:solidFill>
                  <a:srgbClr val="202722"/>
                </a:solidFill>
                <a:latin typeface="Arial"/>
              </a:defRPr>
            </a:pPr>
            <a:r>
              <a:t>Follow the issue</a:t>
            </a:r>
          </a:p>
          <a:p>
            <a:pPr>
              <a:defRPr sz="1000">
                <a:solidFill>
                  <a:srgbClr val="61706A"/>
                </a:solidFill>
                <a:latin typeface="Arial"/>
              </a:defRPr>
            </a:pPr>
            <a:r>
              <a:t>Move from an overview signal to a</a:t>
            </a:r>
            <a:br/>
            <a:r>
              <a:t>focused workflow.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88400" y="4572000"/>
            <a:ext cx="2870200" cy="952500"/>
          </a:xfrm>
          <a:prstGeom prst="roundRect">
            <a:avLst/>
          </a:prstGeom>
          <a:solidFill>
            <a:srgbClr val="F1F4EF"/>
          </a:solidFill>
          <a:ln>
            <a:solidFill>
              <a:srgbClr val="F1F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6200" y="4724400"/>
            <a:ext cx="2590800" cy="69850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defRPr sz="1200" b="1">
                <a:solidFill>
                  <a:srgbClr val="202722"/>
                </a:solidFill>
                <a:latin typeface="Arial"/>
              </a:defRPr>
            </a:pPr>
            <a:r>
              <a:t>Work across teams</a:t>
            </a:r>
          </a:p>
          <a:p>
            <a:pPr>
              <a:defRPr sz="1000">
                <a:solidFill>
                  <a:srgbClr val="61706A"/>
                </a:solidFill>
                <a:latin typeface="Arial"/>
              </a:defRPr>
            </a:pPr>
            <a:r>
              <a:t>Faculty, rooms, requests, analytics, and</a:t>
            </a:r>
            <a:br/>
            <a:r>
              <a:t>history stay connected.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3400" y="6413500"/>
            <a:ext cx="11125200" cy="12700"/>
          </a:xfrm>
          <a:prstGeom prst="rect">
            <a:avLst/>
          </a:prstGeom>
          <a:solidFill>
            <a:srgbClr val="DDE4DC"/>
          </a:solidFill>
          <a:ln>
            <a:solidFill>
              <a:srgbClr val="DD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3400" y="6502400"/>
            <a:ext cx="3810000" cy="25400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800" b="1">
                <a:solidFill>
                  <a:srgbClr val="61706A"/>
                </a:solidFill>
                <a:latin typeface="Arial"/>
              </a:defRPr>
            </a:pPr>
            <a:r>
              <a:t>TIMORA  /  LOCAL EVALUATION 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95000" y="6502400"/>
            <a:ext cx="863600" cy="254000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800" b="1">
                <a:solidFill>
                  <a:srgbClr val="61706A"/>
                </a:solidFill>
                <a:latin typeface="Arial"/>
              </a:defRPr>
            </a:pPr>
            <a:r>
              <a:t>02 / 06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solidFill>
              <a:srgbClr val="FBF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400" y="317500"/>
            <a:ext cx="279400" cy="279400"/>
          </a:xfrm>
          <a:prstGeom prst="roundRect">
            <a:avLst/>
          </a:prstGeom>
          <a:solidFill>
            <a:srgbClr val="B7442D"/>
          </a:solidFill>
          <a:ln>
            <a:solidFill>
              <a:srgbClr val="B74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4800"/>
            <a:ext cx="1270000" cy="31750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1400" b="1">
                <a:solidFill>
                  <a:srgbClr val="202722"/>
                </a:solidFill>
                <a:latin typeface="Arial"/>
              </a:defRPr>
            </a:pPr>
            <a:r>
              <a:t>timora.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0" y="330200"/>
            <a:ext cx="2133600" cy="317500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850" b="1">
                <a:solidFill>
                  <a:srgbClr val="61706A"/>
                </a:solidFill>
                <a:latin typeface="Arial"/>
              </a:defRPr>
            </a:pPr>
            <a:r>
              <a:t>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812800"/>
            <a:ext cx="6350000" cy="25400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1000" b="1">
                <a:solidFill>
                  <a:srgbClr val="B7442D"/>
                </a:solidFill>
                <a:latin typeface="Arial"/>
              </a:defRPr>
            </a:pPr>
            <a:r>
              <a:t>03  SMART TIMETABLE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1041400"/>
            <a:ext cx="8890000" cy="53340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2800" b="1">
                <a:solidFill>
                  <a:srgbClr val="202722"/>
                </a:solidFill>
                <a:latin typeface="Arial"/>
              </a:defRPr>
            </a:pPr>
            <a:r>
              <a:t>Plan. Check. Resolve.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574800"/>
            <a:ext cx="9525000" cy="30480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1200">
                <a:solidFill>
                  <a:srgbClr val="61706A"/>
                </a:solidFill>
                <a:latin typeface="Arial"/>
              </a:defRPr>
            </a:pPr>
            <a:r>
              <a:t>A coordinator can inspect the week, stage a change, and validate before saving.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6900" y="2044700"/>
            <a:ext cx="5461000" cy="3035300"/>
          </a:xfrm>
          <a:prstGeom prst="rect">
            <a:avLst/>
          </a:prstGeom>
          <a:solidFill>
            <a:srgbClr val="E7EAE7"/>
          </a:solidFill>
          <a:ln>
            <a:solidFill>
              <a:srgbClr val="E7E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age_3_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981199"/>
            <a:ext cx="5461000" cy="30353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33400" y="1981199"/>
            <a:ext cx="5461000" cy="3035300"/>
          </a:xfrm>
          <a:prstGeom prst="rect">
            <a:avLst/>
          </a:prstGeom>
          <a:noFill/>
          <a:ln w="12700">
            <a:solidFill>
              <a:srgbClr val="DD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3400" y="5143500"/>
            <a:ext cx="381000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00" b="1">
                <a:solidFill>
                  <a:srgbClr val="B7442D"/>
                </a:solidFill>
                <a:latin typeface="Arial"/>
              </a:defRPr>
            </a:pPr>
            <a:r>
              <a:t>TIMETABLE STUDIO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" y="5372100"/>
            <a:ext cx="4826000" cy="2540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050">
                <a:solidFill>
                  <a:srgbClr val="61706A"/>
                </a:solidFill>
                <a:latin typeface="Arial"/>
              </a:defRPr>
            </a:pPr>
            <a:r>
              <a:t>Day-by-day sessions, course, section, room, and teacher.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1100" y="2044700"/>
            <a:ext cx="5461000" cy="3035300"/>
          </a:xfrm>
          <a:prstGeom prst="rect">
            <a:avLst/>
          </a:prstGeom>
          <a:solidFill>
            <a:srgbClr val="E7EAE7"/>
          </a:solidFill>
          <a:ln>
            <a:solidFill>
              <a:srgbClr val="E7E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age_3_img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7600" y="1981199"/>
            <a:ext cx="5461000" cy="30353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197600" y="1981199"/>
            <a:ext cx="5461000" cy="3035300"/>
          </a:xfrm>
          <a:prstGeom prst="rect">
            <a:avLst/>
          </a:prstGeom>
          <a:noFill/>
          <a:ln w="12700">
            <a:solidFill>
              <a:srgbClr val="DD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7600" y="5143500"/>
            <a:ext cx="381000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00" b="1">
                <a:solidFill>
                  <a:srgbClr val="B7442D"/>
                </a:solidFill>
                <a:latin typeface="Arial"/>
              </a:defRPr>
            </a:pPr>
            <a:r>
              <a:t>CONFLICT CENTER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7600" y="5372100"/>
            <a:ext cx="4826000" cy="2540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050">
                <a:solidFill>
                  <a:srgbClr val="61706A"/>
                </a:solidFill>
                <a:latin typeface="Arial"/>
              </a:defRPr>
            </a:pPr>
            <a:r>
              <a:t>Room and faculty clashes with reviewable alternatives.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3400" y="5930900"/>
            <a:ext cx="3934460" cy="279400"/>
          </a:xfrm>
          <a:prstGeom prst="roundRect">
            <a:avLst/>
          </a:prstGeom>
          <a:solidFill>
            <a:srgbClr val="DCECE0"/>
          </a:solidFill>
          <a:ln>
            <a:solidFill>
              <a:srgbClr val="DCE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>
              <a:defRPr sz="850" b="1">
                <a:solidFill>
                  <a:srgbClr val="17241F"/>
                </a:solidFill>
                <a:latin typeface="Arial"/>
              </a:defRPr>
            </a:pPr>
            <a:r>
              <a:t>CSV + XLSX IMPORT: MATCH  /  REVIEW  /  VALIDATE  /  CONFIRM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3400" y="6413500"/>
            <a:ext cx="11125200" cy="12700"/>
          </a:xfrm>
          <a:prstGeom prst="rect">
            <a:avLst/>
          </a:prstGeom>
          <a:solidFill>
            <a:srgbClr val="DDE4DC"/>
          </a:solidFill>
          <a:ln>
            <a:solidFill>
              <a:srgbClr val="DD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3400" y="6502400"/>
            <a:ext cx="3810000" cy="25400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800" b="1">
                <a:solidFill>
                  <a:srgbClr val="61706A"/>
                </a:solidFill>
                <a:latin typeface="Arial"/>
              </a:defRPr>
            </a:pPr>
            <a:r>
              <a:t>TIMORA  /  LOCAL EVALUATION BUILD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95000" y="6502400"/>
            <a:ext cx="863600" cy="254000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800" b="1">
                <a:solidFill>
                  <a:srgbClr val="61706A"/>
                </a:solidFill>
                <a:latin typeface="Arial"/>
              </a:defRPr>
            </a:pPr>
            <a:r>
              <a:t>03 / 06</a:t>
            </a:r>
          </a:p>
        </p:txBody>
      </p:sp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solidFill>
              <a:srgbClr val="FBF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400" y="317500"/>
            <a:ext cx="279400" cy="279400"/>
          </a:xfrm>
          <a:prstGeom prst="roundRect">
            <a:avLst/>
          </a:prstGeom>
          <a:solidFill>
            <a:srgbClr val="B7442D"/>
          </a:solidFill>
          <a:ln>
            <a:solidFill>
              <a:srgbClr val="B74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4800"/>
            <a:ext cx="1270000" cy="31750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1400" b="1">
                <a:solidFill>
                  <a:srgbClr val="202722"/>
                </a:solidFill>
                <a:latin typeface="Arial"/>
              </a:defRPr>
            </a:pPr>
            <a:r>
              <a:t>timora.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0" y="330200"/>
            <a:ext cx="2133600" cy="317500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850" b="1">
                <a:solidFill>
                  <a:srgbClr val="61706A"/>
                </a:solidFill>
                <a:latin typeface="Arial"/>
              </a:defRPr>
            </a:pPr>
            <a:r>
              <a:t>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812800"/>
            <a:ext cx="6350000" cy="25400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1000" b="1">
                <a:solidFill>
                  <a:srgbClr val="B7442D"/>
                </a:solidFill>
                <a:latin typeface="Arial"/>
              </a:defRPr>
            </a:pPr>
            <a:r>
              <a:t>04  TIMO AI COPILOT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1041400"/>
            <a:ext cx="8890000" cy="53340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2800" b="1">
                <a:solidFill>
                  <a:srgbClr val="202722"/>
                </a:solidFill>
                <a:latin typeface="Arial"/>
              </a:defRPr>
            </a:pPr>
            <a:r>
              <a:t>Answers tied to records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574800"/>
            <a:ext cx="9525000" cy="30480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1200">
                <a:solidFill>
                  <a:srgbClr val="61706A"/>
                </a:solidFill>
                <a:latin typeface="Arial"/>
              </a:defRPr>
            </a:pPr>
            <a:r>
              <a:t>A real CS-401 lookup from the local Timora workspace.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2159000"/>
            <a:ext cx="381000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00" b="1">
                <a:solidFill>
                  <a:srgbClr val="B7442D"/>
                </a:solidFill>
                <a:latin typeface="Arial"/>
              </a:defRPr>
            </a:pPr>
            <a:r>
              <a:t>WHAT IT DOES 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2387600"/>
            <a:ext cx="4064000" cy="3810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700" b="1">
                <a:solidFill>
                  <a:srgbClr val="202722"/>
                </a:solidFill>
                <a:latin typeface="Arial"/>
              </a:defRPr>
            </a:pPr>
            <a:r>
              <a:t>Ask in natural language.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3251200"/>
            <a:ext cx="4318000" cy="7620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200">
                <a:solidFill>
                  <a:srgbClr val="61706A"/>
                </a:solidFill>
                <a:latin typeface="Arial"/>
              </a:defRPr>
            </a:pPr>
            <a:r>
              <a:t>Timo retrieves timetable, availability, conflict, workload,</a:t>
            </a:r>
            <a:br/>
            <a:r>
              <a:t>syllabus, and version data through bounded tools.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4292600"/>
            <a:ext cx="4318000" cy="9525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200">
                <a:solidFill>
                  <a:srgbClr val="61706A"/>
                </a:solidFill>
                <a:latin typeface="Arial"/>
              </a:defRPr>
            </a:pPr>
            <a:r>
              <a:t>Source records and follow-up suggestions make answers</a:t>
            </a:r>
            <a:br/>
            <a:r>
              <a:t>traceable. Supported changes are previewed first and</a:t>
            </a:r>
            <a:br/>
            <a:r>
              <a:t>require user confirmation.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3400" y="5727700"/>
            <a:ext cx="2089150" cy="279400"/>
          </a:xfrm>
          <a:prstGeom prst="roundRect">
            <a:avLst/>
          </a:prstGeom>
          <a:solidFill>
            <a:srgbClr val="DCECE0"/>
          </a:solidFill>
          <a:ln>
            <a:solidFill>
              <a:srgbClr val="DCE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>
              <a:defRPr sz="850" b="1">
                <a:solidFill>
                  <a:srgbClr val="17241F"/>
                </a:solidFill>
                <a:latin typeface="Arial"/>
              </a:defRPr>
            </a:pPr>
            <a:r>
              <a:t>READ  &gt;  PROPOSE  &gt;  CONFIRM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30800" y="2006600"/>
            <a:ext cx="6591300" cy="3962399"/>
          </a:xfrm>
          <a:prstGeom prst="rect">
            <a:avLst/>
          </a:prstGeom>
          <a:solidFill>
            <a:srgbClr val="E7EAE7"/>
          </a:solidFill>
          <a:ln>
            <a:solidFill>
              <a:srgbClr val="E7E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age_4_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7300" y="1943100"/>
            <a:ext cx="6591300" cy="3962399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5067300" y="1943100"/>
            <a:ext cx="6591300" cy="3962399"/>
          </a:xfrm>
          <a:prstGeom prst="rect">
            <a:avLst/>
          </a:prstGeom>
          <a:noFill/>
          <a:ln w="12700">
            <a:solidFill>
              <a:srgbClr val="DD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3400" y="6413500"/>
            <a:ext cx="11125200" cy="12700"/>
          </a:xfrm>
          <a:prstGeom prst="rect">
            <a:avLst/>
          </a:prstGeom>
          <a:solidFill>
            <a:srgbClr val="DDE4DC"/>
          </a:solidFill>
          <a:ln>
            <a:solidFill>
              <a:srgbClr val="DD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3400" y="6502400"/>
            <a:ext cx="3810000" cy="25400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800" b="1">
                <a:solidFill>
                  <a:srgbClr val="61706A"/>
                </a:solidFill>
                <a:latin typeface="Arial"/>
              </a:defRPr>
            </a:pPr>
            <a:r>
              <a:t>TIMORA  /  LOCAL EVALUATION BUILD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95000" y="6502400"/>
            <a:ext cx="863600" cy="254000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800" b="1">
                <a:solidFill>
                  <a:srgbClr val="61706A"/>
                </a:solidFill>
                <a:latin typeface="Arial"/>
              </a:defRPr>
            </a:pPr>
            <a:r>
              <a:t>04 / 06</a:t>
            </a:r>
          </a:p>
        </p:txBody>
      </p:sp>
    </p:spTree>
  </p:cSld>
  <p:clrMapOvr>
    <a:masterClrMapping/>
  </p:clrMapOvr>
  <p:transition spd="med">
    <p:push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solidFill>
              <a:srgbClr val="FBF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400" y="317500"/>
            <a:ext cx="279400" cy="279400"/>
          </a:xfrm>
          <a:prstGeom prst="roundRect">
            <a:avLst/>
          </a:prstGeom>
          <a:solidFill>
            <a:srgbClr val="B7442D"/>
          </a:solidFill>
          <a:ln>
            <a:solidFill>
              <a:srgbClr val="B74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4800"/>
            <a:ext cx="1270000" cy="31750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1400" b="1">
                <a:solidFill>
                  <a:srgbClr val="202722"/>
                </a:solidFill>
                <a:latin typeface="Arial"/>
              </a:defRPr>
            </a:pPr>
            <a:r>
              <a:t>timora.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0" y="330200"/>
            <a:ext cx="2133600" cy="317500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850" b="1">
                <a:solidFill>
                  <a:srgbClr val="61706A"/>
                </a:solidFill>
                <a:latin typeface="Arial"/>
              </a:defRPr>
            </a:pPr>
            <a:r>
              <a:t>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812800"/>
            <a:ext cx="6350000" cy="25400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1000" b="1">
                <a:solidFill>
                  <a:srgbClr val="B7442D"/>
                </a:solidFill>
                <a:latin typeface="Arial"/>
              </a:defRPr>
            </a:pPr>
            <a:r>
              <a:t>05  TECHNOLOGY &amp;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1041400"/>
            <a:ext cx="8890000" cy="53340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2800" b="1">
                <a:solidFill>
                  <a:srgbClr val="202722"/>
                </a:solidFill>
                <a:latin typeface="Arial"/>
              </a:defRPr>
            </a:pPr>
            <a:r>
              <a:t>A shared source of truth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574800"/>
            <a:ext cx="9525000" cy="30480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1200">
                <a:solidFill>
                  <a:srgbClr val="61706A"/>
                </a:solidFill>
                <a:latin typeface="Arial"/>
              </a:defRPr>
            </a:pPr>
            <a:r>
              <a:t>The current code separates the interface, scheduling logic, data access, and AI service.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3400" y="2336800"/>
            <a:ext cx="2336800" cy="1549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6600" y="2540000"/>
            <a:ext cx="1930400" cy="114300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950" b="1">
                <a:solidFill>
                  <a:srgbClr val="B7442D"/>
                </a:solidFill>
                <a:latin typeface="Arial"/>
              </a:defRPr>
            </a:pPr>
            <a:r>
              <a:t>INTERFACE</a:t>
            </a:r>
          </a:p>
          <a:p>
            <a:br/>
            <a:pPr>
              <a:defRPr sz="1100" b="1">
                <a:solidFill>
                  <a:srgbClr val="202722"/>
                </a:solidFill>
                <a:latin typeface="Arial"/>
              </a:defRPr>
            </a:pPr>
            <a:r>
              <a:t>Next.js 16 + React 19</a:t>
            </a:r>
          </a:p>
          <a:p>
            <a:pPr>
              <a:defRPr sz="1100">
                <a:solidFill>
                  <a:srgbClr val="202722"/>
                </a:solidFill>
                <a:latin typeface="Arial"/>
              </a:defRPr>
            </a:pPr>
            <a:r>
              <a:t>TypeScript + Tailwind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6300" y="2336800"/>
            <a:ext cx="2336800" cy="1549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9500" y="2540000"/>
            <a:ext cx="1930400" cy="114300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950" b="1">
                <a:solidFill>
                  <a:srgbClr val="B7442D"/>
                </a:solidFill>
                <a:latin typeface="Arial"/>
              </a:defRPr>
            </a:pPr>
            <a:r>
              <a:t>SCHEDULING LAYER</a:t>
            </a:r>
          </a:p>
          <a:p>
            <a:br/>
            <a:pPr>
              <a:defRPr sz="1100" b="1">
                <a:solidFill>
                  <a:srgbClr val="202722"/>
                </a:solidFill>
                <a:latin typeface="Arial"/>
              </a:defRPr>
            </a:pPr>
            <a:r>
              <a:t>Repository + constraints</a:t>
            </a:r>
          </a:p>
          <a:p>
            <a:pPr>
              <a:defRPr sz="1100">
                <a:solidFill>
                  <a:srgbClr val="202722"/>
                </a:solidFill>
                <a:latin typeface="Arial"/>
              </a:defRPr>
            </a:pPr>
            <a:r>
              <a:t>Plans, imports, requests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9200" y="2336800"/>
            <a:ext cx="2336800" cy="1549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2400" y="2540000"/>
            <a:ext cx="1930400" cy="114300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950" b="1">
                <a:solidFill>
                  <a:srgbClr val="B7442D"/>
                </a:solidFill>
                <a:latin typeface="Arial"/>
              </a:defRPr>
            </a:pPr>
            <a:r>
              <a:t>DATA PATH</a:t>
            </a:r>
          </a:p>
          <a:p>
            <a:br/>
            <a:pPr>
              <a:defRPr sz="1100" b="1">
                <a:solidFill>
                  <a:srgbClr val="202722"/>
                </a:solidFill>
                <a:latin typeface="Arial"/>
              </a:defRPr>
            </a:pPr>
            <a:r>
              <a:t>Local evaluation store</a:t>
            </a:r>
          </a:p>
          <a:p>
            <a:pPr>
              <a:defRPr sz="1100">
                <a:solidFill>
                  <a:srgbClr val="202722"/>
                </a:solidFill>
                <a:latin typeface="Arial"/>
              </a:defRPr>
            </a:pPr>
            <a:r>
              <a:t>Supabase live adapter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2100" y="2336800"/>
            <a:ext cx="2476500" cy="1549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85300" y="2540000"/>
            <a:ext cx="2070100" cy="114300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950" b="1">
                <a:solidFill>
                  <a:srgbClr val="B7442D"/>
                </a:solidFill>
                <a:latin typeface="Arial"/>
              </a:defRPr>
            </a:pPr>
            <a:r>
              <a:t>TIMO SERVICE</a:t>
            </a:r>
          </a:p>
          <a:p>
            <a:br/>
            <a:pPr>
              <a:defRPr sz="1100" b="1">
                <a:solidFill>
                  <a:srgbClr val="202722"/>
                </a:solidFill>
                <a:latin typeface="Arial"/>
              </a:defRPr>
            </a:pPr>
            <a:r>
              <a:t>Server-side OpenRouter</a:t>
            </a:r>
          </a:p>
          <a:p>
            <a:pPr>
              <a:defRPr sz="1100">
                <a:solidFill>
                  <a:srgbClr val="202722"/>
                </a:solidFill>
                <a:latin typeface="Arial"/>
              </a:defRPr>
            </a:pPr>
            <a:r>
              <a:t>Validated, scoped tools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84500" y="3098800"/>
            <a:ext cx="317500" cy="25400"/>
          </a:xfrm>
          <a:prstGeom prst="rect">
            <a:avLst/>
          </a:prstGeom>
          <a:solidFill>
            <a:srgbClr val="B7442D"/>
          </a:solidFill>
          <a:ln>
            <a:solidFill>
              <a:srgbClr val="B74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67400" y="3098800"/>
            <a:ext cx="317500" cy="25400"/>
          </a:xfrm>
          <a:prstGeom prst="rect">
            <a:avLst/>
          </a:prstGeom>
          <a:solidFill>
            <a:srgbClr val="B7442D"/>
          </a:solidFill>
          <a:ln>
            <a:solidFill>
              <a:srgbClr val="B74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50300" y="3098800"/>
            <a:ext cx="317500" cy="25400"/>
          </a:xfrm>
          <a:prstGeom prst="rect">
            <a:avLst/>
          </a:prstGeom>
          <a:solidFill>
            <a:srgbClr val="B7442D"/>
          </a:solidFill>
          <a:ln>
            <a:solidFill>
              <a:srgbClr val="B74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3400" y="4318000"/>
            <a:ext cx="381000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00" b="1">
                <a:solidFill>
                  <a:srgbClr val="B7442D"/>
                </a:solidFill>
                <a:latin typeface="Arial"/>
              </a:defRPr>
            </a:pPr>
            <a:r>
              <a:t>VALIDATION BEFORE WRITE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400" y="4597400"/>
            <a:ext cx="5588000" cy="5715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150">
                <a:solidFill>
                  <a:srgbClr val="61706A"/>
                </a:solidFill>
                <a:latin typeface="Arial"/>
              </a:defRPr>
            </a:pPr>
            <a:r>
              <a:t>Constraint checks, role checks, confirmation, audit, and read-after-write verification protect local workflows.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6200" y="4318000"/>
            <a:ext cx="381000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00" b="1">
                <a:solidFill>
                  <a:srgbClr val="B7442D"/>
                </a:solidFill>
                <a:latin typeface="Arial"/>
              </a:defRPr>
            </a:pPr>
            <a:r>
              <a:t>LIVE DEPLOYMENT GATE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6200" y="4597400"/>
            <a:ext cx="5232400" cy="5715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150">
                <a:solidFill>
                  <a:srgbClr val="61706A"/>
                </a:solidFill>
                <a:latin typeface="Arial"/>
              </a:defRPr>
            </a:pPr>
            <a:r>
              <a:t>Supabase row policies, transactional writes, and live role tests still require completion.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3400" y="5791200"/>
            <a:ext cx="2520950" cy="279400"/>
          </a:xfrm>
          <a:prstGeom prst="roundRect">
            <a:avLst/>
          </a:prstGeom>
          <a:solidFill>
            <a:srgbClr val="DCECE0"/>
          </a:solidFill>
          <a:ln>
            <a:solidFill>
              <a:srgbClr val="DCE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>
              <a:defRPr sz="850" b="1">
                <a:solidFill>
                  <a:srgbClr val="17241F"/>
                </a:solidFill>
                <a:latin typeface="Arial"/>
              </a:defRPr>
            </a:pPr>
            <a:r>
              <a:t>LOCAL SCREENS SHOWN IN THIS DECK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3400" y="6413500"/>
            <a:ext cx="11125200" cy="12700"/>
          </a:xfrm>
          <a:prstGeom prst="rect">
            <a:avLst/>
          </a:prstGeom>
          <a:solidFill>
            <a:srgbClr val="DDE4DC"/>
          </a:solidFill>
          <a:ln>
            <a:solidFill>
              <a:srgbClr val="DD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3400" y="6502400"/>
            <a:ext cx="3810000" cy="25400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800" b="1">
                <a:solidFill>
                  <a:srgbClr val="61706A"/>
                </a:solidFill>
                <a:latin typeface="Arial"/>
              </a:defRPr>
            </a:pPr>
            <a:r>
              <a:t>TIMORA  /  LOCAL EVALUATION BUILD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95000" y="6502400"/>
            <a:ext cx="863600" cy="254000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800" b="1">
                <a:solidFill>
                  <a:srgbClr val="61706A"/>
                </a:solidFill>
                <a:latin typeface="Arial"/>
              </a:defRPr>
            </a:pPr>
            <a:r>
              <a:t>05 / 06</a:t>
            </a:r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>
            <a:solidFill>
              <a:srgbClr val="FBFA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400" y="317500"/>
            <a:ext cx="279400" cy="279400"/>
          </a:xfrm>
          <a:prstGeom prst="roundRect">
            <a:avLst/>
          </a:prstGeom>
          <a:solidFill>
            <a:srgbClr val="B7442D"/>
          </a:solidFill>
          <a:ln>
            <a:solidFill>
              <a:srgbClr val="B744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4800"/>
            <a:ext cx="1270000" cy="31750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1400" b="1">
                <a:solidFill>
                  <a:srgbClr val="202722"/>
                </a:solidFill>
                <a:latin typeface="Arial"/>
              </a:defRPr>
            </a:pPr>
            <a:r>
              <a:t>timora.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0" y="330200"/>
            <a:ext cx="2133600" cy="317500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850" b="1">
                <a:solidFill>
                  <a:srgbClr val="61706A"/>
                </a:solidFill>
                <a:latin typeface="Arial"/>
              </a:defRPr>
            </a:pPr>
            <a:r>
              <a:t>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812800"/>
            <a:ext cx="6350000" cy="25400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1000" b="1">
                <a:solidFill>
                  <a:srgbClr val="B7442D"/>
                </a:solidFill>
                <a:latin typeface="Arial"/>
              </a:defRPr>
            </a:pPr>
            <a:r>
              <a:t>06  IMPACT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1041400"/>
            <a:ext cx="8890000" cy="53340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2800" b="1">
                <a:solidFill>
                  <a:srgbClr val="202722"/>
                </a:solidFill>
                <a:latin typeface="Arial"/>
              </a:defRPr>
            </a:pPr>
            <a:r>
              <a:t>Make every change trustworthy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1574800"/>
            <a:ext cx="9525000" cy="30480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1200">
                <a:solidFill>
                  <a:srgbClr val="61706A"/>
                </a:solidFill>
                <a:latin typeface="Arial"/>
              </a:defRPr>
            </a:pPr>
            <a:r>
              <a:t>Timora connects insight, planning, and review in a single academic workflow.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6900" y="2044700"/>
            <a:ext cx="5664200" cy="3441700"/>
          </a:xfrm>
          <a:prstGeom prst="rect">
            <a:avLst/>
          </a:prstGeom>
          <a:solidFill>
            <a:srgbClr val="E7EAE7"/>
          </a:solidFill>
          <a:ln>
            <a:solidFill>
              <a:srgbClr val="E7E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age_6_im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981199"/>
            <a:ext cx="5664200" cy="34417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33400" y="1981199"/>
            <a:ext cx="5664200" cy="3441700"/>
          </a:xfrm>
          <a:prstGeom prst="rect">
            <a:avLst/>
          </a:prstGeom>
          <a:noFill/>
          <a:ln w="12700">
            <a:solidFill>
              <a:srgbClr val="DD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3200" y="2082800"/>
            <a:ext cx="381000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00" b="1">
                <a:solidFill>
                  <a:srgbClr val="B7442D"/>
                </a:solidFill>
                <a:latin typeface="Arial"/>
              </a:defRPr>
            </a:pPr>
            <a:r>
              <a:t>PRACTICAL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200" y="2336800"/>
            <a:ext cx="5080000" cy="6350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>
              <a:defRPr sz="1700" b="1">
                <a:solidFill>
                  <a:srgbClr val="202722"/>
                </a:solidFill>
                <a:latin typeface="Arial"/>
              </a:defRPr>
            </a:pPr>
            <a:r>
              <a:t>See conflicts earlier. Compare options. Keep</a:t>
            </a:r>
            <a:br/>
            <a:r>
              <a:t>a trace of decisions.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200" y="3505200"/>
            <a:ext cx="381000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900" b="1">
                <a:solidFill>
                  <a:srgbClr val="B7442D"/>
                </a:solidFill>
                <a:latin typeface="Arial"/>
              </a:defRPr>
            </a:pPr>
            <a:r>
              <a:t>ROADMAP TO INSTITUTIONAL LAUNCH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27800" y="3797300"/>
            <a:ext cx="304800" cy="304800"/>
          </a:xfrm>
          <a:prstGeom prst="roundRect">
            <a:avLst/>
          </a:prstGeom>
          <a:solidFill>
            <a:srgbClr val="DCECE0"/>
          </a:solidFill>
          <a:ln>
            <a:solidFill>
              <a:srgbClr val="DCE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17241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900" y="3822700"/>
            <a:ext cx="4699000" cy="2794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>
                <a:solidFill>
                  <a:srgbClr val="202722"/>
                </a:solidFill>
                <a:latin typeface="Arial"/>
              </a:defRPr>
            </a:pPr>
            <a:r>
              <a:t>Scoped Supabase row policies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27800" y="4203700"/>
            <a:ext cx="304800" cy="304800"/>
          </a:xfrm>
          <a:prstGeom prst="roundRect">
            <a:avLst/>
          </a:prstGeom>
          <a:solidFill>
            <a:srgbClr val="DCECE0"/>
          </a:solidFill>
          <a:ln>
            <a:solidFill>
              <a:srgbClr val="DCE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17241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6900" y="4229100"/>
            <a:ext cx="4699000" cy="2794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>
                <a:solidFill>
                  <a:srgbClr val="202722"/>
                </a:solidFill>
                <a:latin typeface="Arial"/>
              </a:defRPr>
            </a:pPr>
            <a:r>
              <a:t>Transactional, audited live writes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27800" y="4610100"/>
            <a:ext cx="304800" cy="304800"/>
          </a:xfrm>
          <a:prstGeom prst="roundRect">
            <a:avLst/>
          </a:prstGeom>
          <a:solidFill>
            <a:srgbClr val="DCECE0"/>
          </a:solidFill>
          <a:ln>
            <a:solidFill>
              <a:srgbClr val="DCE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17241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6900" y="4635500"/>
            <a:ext cx="4699000" cy="2794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>
                <a:solidFill>
                  <a:srgbClr val="202722"/>
                </a:solidFill>
                <a:latin typeface="Arial"/>
              </a:defRPr>
            </a:pPr>
            <a:r>
              <a:t>Complete exchange consent and application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27800" y="5016500"/>
            <a:ext cx="304800" cy="304800"/>
          </a:xfrm>
          <a:prstGeom prst="roundRect">
            <a:avLst/>
          </a:prstGeom>
          <a:solidFill>
            <a:srgbClr val="DCECE0"/>
          </a:solidFill>
          <a:ln>
            <a:solidFill>
              <a:srgbClr val="DCE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17241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6900" y="5041900"/>
            <a:ext cx="4699000" cy="2794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100">
                <a:solidFill>
                  <a:srgbClr val="202722"/>
                </a:solidFill>
                <a:latin typeface="Arial"/>
              </a:defRPr>
            </a:pPr>
            <a:r>
              <a:t>Live permission, recovery, and accessibility tests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3400" y="5638800"/>
            <a:ext cx="11125200" cy="469899"/>
          </a:xfrm>
          <a:prstGeom prst="roundRect">
            <a:avLst/>
          </a:prstGeom>
          <a:solidFill>
            <a:srgbClr val="17241F"/>
          </a:solidFill>
          <a:ln>
            <a:solidFill>
              <a:srgbClr val="1724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The right people. The right place. The right time. A change you can explain.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3400" y="6413500"/>
            <a:ext cx="11125200" cy="12700"/>
          </a:xfrm>
          <a:prstGeom prst="rect">
            <a:avLst/>
          </a:prstGeom>
          <a:solidFill>
            <a:srgbClr val="DDE4DC"/>
          </a:solidFill>
          <a:ln>
            <a:solidFill>
              <a:srgbClr val="DD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3400" y="6502400"/>
            <a:ext cx="3810000" cy="254000"/>
          </a:xfrm>
          <a:prstGeom prst="rect">
            <a:avLst/>
          </a:prstGeom>
          <a:noFill/>
        </p:spPr>
        <p:txBody>
          <a:bodyPr wrap="none" tIns="0" lIns="0">
            <a:spAutoFit/>
          </a:bodyPr>
          <a:lstStyle/>
          <a:p>
            <a:pPr>
              <a:defRPr sz="800" b="1">
                <a:solidFill>
                  <a:srgbClr val="61706A"/>
                </a:solidFill>
                <a:latin typeface="Arial"/>
              </a:defRPr>
            </a:pPr>
            <a:r>
              <a:t>TIMORA  /  LOCAL EVALUATION BUILD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95000" y="6502400"/>
            <a:ext cx="863600" cy="254000"/>
          </a:xfrm>
          <a:prstGeom prst="rect">
            <a:avLst/>
          </a:prstGeom>
          <a:noFill/>
        </p:spPr>
        <p:txBody>
          <a:bodyPr wrap="none" tIns="0" rIns="0">
            <a:spAutoFit/>
          </a:bodyPr>
          <a:lstStyle/>
          <a:p>
            <a:pPr algn="r">
              <a:defRPr sz="800" b="1">
                <a:solidFill>
                  <a:srgbClr val="61706A"/>
                </a:solidFill>
                <a:latin typeface="Arial"/>
              </a:defRPr>
            </a:pPr>
            <a:r>
              <a:t>06 / 06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